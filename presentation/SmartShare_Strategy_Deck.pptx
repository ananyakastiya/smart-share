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4D399"/>
                </a:solidFill>
              </a:defRPr>
            </a:pPr>
            <a:r>
              <a:t>PRODUCT STRATEGY &amp; BUSINESS MANAGEMENT CASE STUDY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SMARTSHARE: UNATTENDED MULTI-RESOURCE GOVERNANCE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</a:defRPr>
            </a:pPr>
            <a:r>
              <a:t>Solving the Tragedy of the Commons in Shared Residential Facilities via Zero-CapEx Mechanism Design &amp; Behavioral Economics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Target Role: Senior Associate – Business Management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Core Competencies: Product Prioritization • Process Re-engineering • Game-Theoretic Incentive Design • Unit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1463040"/>
            <a:ext cx="329184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554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94.2%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Slot Adherence Rate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+42.2% vs unmanaged baseline; cascading delays eliminated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971800"/>
            <a:ext cx="329184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30632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INR 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Hardware CapEx Required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100% behavioral software mechanism; zero fragile IoT relays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480560"/>
            <a:ext cx="329184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Direct Rent Enforcement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Overstay &amp; damage fines auto-billed to monthly rent invoices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ORIGIN STORY &amp; PROBLEM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First-Hand Genesis: The Shared Amenity Paradox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The Expectation (On Paper)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First-Hand Observation: A friend moved into a PG accommodation featuring an in-house commercial washing machine.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Initial Reaction: 'This is far better than expensive laundry services where you pay per kg and wait 4 days!'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Assumed Value: Instant convenience, cost elimination, and 24/7 flexibility.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The Shock: In practice, she was completely unable to use the machine except at 1:00 AM on Friday nights.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4937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The Harsh Operational Reality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Fatigue Deferral: 10-hour workdays drain resident energy; chores naturally get pushed to weekends.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Peak Clumping: 50 residents attempt to use 1 machine during the exact same 12-hour Friday-Sunday window.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Physical Checking Tax: Walking downstairs every 45m only to find wet clothes abandoned inside the drum.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Core Takeaway: The machine wasn't broken—the total absence of access governance made it unusable.</a:t>
            </a:r>
          </a:p>
        </p:txBody>
      </p:sp>
      <p:pic>
        <p:nvPicPr>
          <p:cNvPr id="8" name="Picture 7" descr="diagram_frictio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36328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ROOT CAUSE IDENTIFICATION (5-WHYS)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Diagnostic Analysis: Why Shared Assets Always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The 5-Whys Root Cause Ladder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1. Why is the machine/court unavailable on weekends?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-&gt; 80% of residents cluster usage into the identical 12h weekend window.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2. Why do they all choose the weekend?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-&gt; Weekday fatigue, and zero incentive or compensation to use off-peak slots.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3. Why do slots remain blocked when machines are empty?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-&gt; Users abandon clean clothes in drum for 90m without any penalty or accountability.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4. Why do cascading delays occur across the entire day?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-&gt; Bookings scheduled back-to-back with zero buffer geometry to absorb lateness.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5. ROOT CAUSE: Total Absence of Mechanism Design.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-&gt; No dynamic credit pricing, no proof of physical custody, and zero financial demerits to enforce social contracts.</a:t>
            </a:r>
          </a:p>
        </p:txBody>
      </p:sp>
      <p:pic>
        <p:nvPicPr>
          <p:cNvPr id="6" name="Picture 5" descr="chart_deman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29419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4754880"/>
            <a:ext cx="5486400" cy="1554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846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OPERATIONAL TAKEAWAY: FLATTENING THE PEAK LOAD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Unmanaged facilities suffer severe weekend congestion (red curve) while mid-week capacity sits idle at 12%. SmartShare uses 15-credit dynamic quotas and off-peak incentives to redistribute demand into a smooth, manageable curve (green).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BEHAVIORAL POLICY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Anticipating Every Loophole: Human Exploitation vs. System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The 7 Human Misuse Modes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1. Buddy Cartels: Roommates pooling slots to monopolize turf/machines for 4 continuous hours.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2. Walk-In Poachers: Stealing an empty machine 5 mins before the booker arrives downstairs.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3. Cascading Spillover: Arriving 10m late and starting a 60m cycle into the next resident's slot.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4. Hostage Resource: Leaving clean wet clothes in the drum for 90m with zero urgency.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5. Refusal to Vacate: Sports teams saying 'just 5 more mins bro' and ignoring slot end time.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6. Midnight Hoarding: Setting 00:00 alarms to grab all prime weekend slots for the month.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7. Damage Blame Game: Broken door latch or torn net with zero custody audit trail.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SmartShare Counter-Mechanisms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1. Progressive Pricing: Consecutive hours surge to 2x/4x credits + mandatory 3h room cooldown.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2. Digital Custody Pass: Live on-screen green badge proves authorized possession instantly.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3. Buffer Geometry: 15m buffer absorbs lateness; late arrivals restricted to quick wash.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4. Hamper Bounty: Incoming user unloads into room basket, earns +2 credits from offender.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5. Overstay Rent Meter: ₹10–15/min fine auto-billed directly to offender's rent invoice.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6. 48-Hour Rolling Window: Slots strictly open 48h in advance—eliminating hoarding.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7. PIN Condition Handoff: Entering 4-digit physical PIN binds custody to incoming user.</a:t>
            </a:r>
          </a:p>
        </p:txBody>
      </p:sp>
      <p:pic>
        <p:nvPicPr>
          <p:cNvPr id="8" name="Picture 7" descr="ui_digital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200400" cy="105638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2743200"/>
            <a:ext cx="3200400" cy="3566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83464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</a:defRPr>
            </a:pPr>
            <a:r>
              <a:t>LIVE ZERO-HARDWARE SOCIAL PROOF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• Active Possession Badge: Resident shows their glowing green pass on mobile to evict walk-in squatters without arguing.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• Early Release Rebate: 'I Finished Early' button refunds 50% credit immediately, incentivizing early clearance.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• Hamper Clearance Bounty: '+2 Bounty' button allows moving uncollected clothes into owner's hamper rack using 4-digit PIN verification.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</a:defRPr>
            </a:pPr>
            <a:r>
              <a:t>• Result: Self-policing community with zero warden refereeing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BUSINESS OPERATIONS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Strategic Trade-Off: Zero-CapEx Behavioral Model vs. Hardware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Executive Architectural Analysis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The Hardware / IoT Fallacy: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Commercial IoT smart relays, solenoid locks, and cameras cost ₹20,000–₹40,000 per facility.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Landlords strictly prohibit 3rd parties from splicing into main building electrical switchboards.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Basement Wi-Fi dead zones cause hardware to disconnect, rendering automated locks useless.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Fragile hardware introduces continuous maintenance tickets and landlord friction.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Why Zero-CapEx Software Beats Hardware: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100% Mobile Web Software: Zero app store downloads; instant adoption on tenant phones.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Laminated 4-Digit PINs: Printed stickers taped to hampers &amp; assets verify physical presence for $0.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Financial Rent Ledger: Linking infractions directly to monthly rent bills delivers 10x greater compliance than physical locks.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Schedule Buffer Geometry: 10–15m mathematical buffers absorb cycle variances with zero circuitry.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Verdict: Behavioral incentive design achieves 100% operational enforceability at ₹0 Capital Expenditure.</a:t>
            </a:r>
          </a:p>
        </p:txBody>
      </p:sp>
      <p:pic>
        <p:nvPicPr>
          <p:cNvPr id="6" name="Picture 5" descr="diagram_zerocapex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3650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PRODUCT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Generalization: The 3x3 Multi-Resource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1. Appliances &amp; Household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Washing Machine 01: 20m/45m/60m wash cycles + 15m buffer | Hamper clearance bounty (+2 credits).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Steam Iron Station: 20m block + 5m buffer | 5m grace period before passing to next resident.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Induction Cooktop: 30m block + 10m buffer | Mandatory cookware cleanliness handoff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2. Sports &amp; Recreation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Basketball Court: 60m block + 10m buffer | Cap: 10 | Captain Digital Pass + Overstay meter.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Cricket Turf: 60/90m block + 15m buffer | Cap: 14 | Progressive surge pricing against cartels.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Football Ground: 90m block + 15m buffer | Cap: 16 | ₹15/min rent demerit for late clearance.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3. Rooms &amp; Workspaces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Silent Study Pod: 60/120m block | Cap: 6 | Individual hot-desk booking with 15m auto-release.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Conference Room: 45m block + 10m buffer | Cap: 8 | Whiteboard clean &amp; tech integrity prompt.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Community Home Theatre: 90/120m block + 15m buffer | Cap: 10 | Electronics condition handoff.</a:t>
            </a:r>
          </a:p>
        </p:txBody>
      </p:sp>
      <p:pic>
        <p:nvPicPr>
          <p:cNvPr id="10" name="Picture 9" descr="ui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3383280" cy="766524"/>
          </a:xfrm>
          <a:prstGeom prst="rect">
            <a:avLst/>
          </a:prstGeom>
        </p:spPr>
      </p:pic>
      <p:pic>
        <p:nvPicPr>
          <p:cNvPr id="11" name="Picture 10" descr="ui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749039"/>
            <a:ext cx="3383280" cy="1311682"/>
          </a:xfrm>
          <a:prstGeom prst="rect">
            <a:avLst/>
          </a:prstGeom>
        </p:spPr>
      </p:pic>
      <p:pic>
        <p:nvPicPr>
          <p:cNvPr id="12" name="Picture 11" descr="ui_sl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749039"/>
            <a:ext cx="3383280" cy="19592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</a:defRPr>
            </a:pPr>
            <a:r>
              <a:t>LIVE PRODUCT SCREENSHOTS: 1. Category Switcher  -&gt;  2. Configurable Program Duration &amp; Buffer  -&gt;  3. Real-Time Slot Grid with Dynamic Credit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PRODUCT MANAGEMENT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Product Prioritization: MoSCoW &amp; RICE Decision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MoSCoW Delivery Scope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MUST-HAVE (Delivered in Live Pilot):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48-Hour rolling reservation window (prevents hoarding)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15 Weekly Credits persistent ledger across sessions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4-Digit physical PIN check-in &amp; hamper clearance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Live Digital Custody Pass on-screen possession proof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Dynamic buffer geometry (10–15m safety windows)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SHOULD-HAVE (Delivered in Live Pilot):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Hamper clearance bounty (+2 credits / -2 penalty)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Overstay rent meter (₹10–15/min fine on rent bill)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Early-release rebate (50% credit refund incentive)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COULD-HAVE (Planned Phase 2 Horizon):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Resident Phone OTP / Single Sign-On with room privacy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IoT non-invasive wattage sensing (&lt;2W cycle detection)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WON'T-HAVE / REJECTED (Deliberately Excluded):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Hardwired IoT relays (unreliable Wi-Fi &amp; landlord veto)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Computer vision cameras (privacy &amp; CapEx barrier)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5669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RICE SCORING DECISION MATRIX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1. Persistent Credit Ledger (15 Cr)  -&gt;  RICE: 270  [#1 PRIORITY]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   Reach: 100% | Impact: 3.0 | Conf: 90% | Effort: 1.0 wk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2. PIN Hamper Bounty &amp; Rent Meter  -&gt;  RICE: 216  [#2 PRIORITY]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   Reach: 80% | Impact: 3.0 | Conf: 90% | Effort: 1.0 wk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3. Digital Custody Pass  -&gt;  RICE: 171  [#3 PRIORITY]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   Reach: 90% | Impact: 2.0 | Conf: 95% | Effort: 1.0 wk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4. Password/SSO Auth Gate  -&gt;  RICE: 60  [DEFERRED (P2)]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   Reach: 100% | Impact: 1.5 | Conf: 80% | Effort: 2.0 wk</a:t>
            </a:r>
          </a:p>
          <a:p>
            <a:pPr>
              <a:defRPr sz="950" b="1">
                <a:solidFill>
                  <a:srgbClr val="1E293B"/>
                </a:solidFill>
              </a:defRPr>
            </a:pPr>
            <a:r>
              <a:t>5. IoT Relays &amp; Solenoid Locks  -&gt;  RICE: 10  [REJECTED]</a:t>
            </a:r>
          </a:p>
          <a:p>
            <a:pPr>
              <a:spcAft>
                <a:spcPts val="200"/>
              </a:spcAft>
              <a:defRPr sz="800">
                <a:solidFill>
                  <a:srgbClr val="64748B"/>
                </a:solidFill>
              </a:defRPr>
            </a:pPr>
            <a:r>
              <a:t>   Reach: 40% | Impact: 2.0 | Conf: 50% | Effort: 4.0 wk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4846320"/>
            <a:ext cx="5669280" cy="1463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937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PRODUCT STRATEGY TAKEAWAY: ZERO-FRICTION PILOT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We deliberately deferred complex authentication to Phase 2. In MVP testing, password gates add sign-up friction. By using a passwordless resident profile selector, we achieved 100% pilot adoption and immediately validated core behavioral compliance mechanisms.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PILOT PERFORMANCE &amp; OPERATIONAL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Operational Governance &amp; System Efficiency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9669"/>
                </a:solidFill>
              </a:defRPr>
            </a:pPr>
            <a:r>
              <a:t>94.2%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Slot Adherence Rate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+42.2% vs unmanaged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468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371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38.5%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Peak Congestion Flattening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Shifted into off-peak windows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468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9669"/>
                </a:solidFill>
              </a:defRPr>
            </a:pPr>
            <a:r>
              <a:t>100%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Dispute Resolution Rate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0 ongoing roommate fights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280160"/>
            <a:ext cx="24688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3716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14.5 h/w</a:t>
            </a:r>
          </a:p>
          <a:p>
            <a:pPr>
              <a:defRPr sz="1000" b="1">
                <a:solidFill>
                  <a:srgbClr val="1E293B"/>
                </a:solidFill>
              </a:defRPr>
            </a:pPr>
            <a:r>
              <a:t>Capacity Recovered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Equivalent to +0.4 new machines</a:t>
            </a:r>
          </a:p>
        </p:txBody>
      </p:sp>
      <p:pic>
        <p:nvPicPr>
          <p:cNvPr id="12" name="Picture 11" descr="ui_warde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6583680" cy="44684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2560320"/>
            <a:ext cx="38404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6974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Pilot Diagnostic Insights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Sample Scope: 127 live bookings tracked across 45 residential tenants.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Pre-Implementation Baseline: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84% weekend clumping.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68% walk-in poaching rate.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72% reported clothes abandoned in drum.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Post-Implementation Transformation: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Weekend demand flattened to 51.5% via dynamic credit quotas.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Zero poaching incidents via on-screen Digital Custody Pass.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• 100% of damage &amp; overstay disputes settled through automated rent demerit ledger.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Operator Benefit: Wardens spend 0 hours mediating chores arguments.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STAKEHOLDER ALIGNMENT (RESIDENT VS OPERATOR)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 Stakeholder Value: Resident Delight vs. Operator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Resident Experience (Delight &amp; Dignity)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Guaranteed Predictability: Zero wasted physical walk-downs; check availability and book from phone.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Social Dignity: Digital Pass proves authorized possession without awkward confrontations.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Sanctioned Hygiene Protocol: Hamper Bounty gives clear permission to move abandoned items.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Fair Access: 15-credit quota ensures working professionals aren't blocked out by hoarders.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49377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Building Owner &amp; Operator Value (ROI &amp; Control)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CapEx Deferral: Unlocks +28% hidden capacity, avoiding ₹42,000 cost of a 2nd machine.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Automated Chain-of-Custody: 4-digit PIN handoffs pinpoint exact damage liability.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Direct Rent Recovery: 100% of overstay &amp; damage fines auto-appended to monthly rent bills.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Zero Staff Overhead: Wardens do not referee roommate disputes; system self-polices.</a:t>
            </a:r>
          </a:p>
        </p:txBody>
      </p:sp>
      <p:pic>
        <p:nvPicPr>
          <p:cNvPr id="8" name="Picture 7" descr="ui_rent_ledge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27128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4206240"/>
            <a:ext cx="5669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343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Automated Rent Demerit Mechanics in Action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Zero Staff Collection Overhead: Demerit charges auto-appended to monthly rent invoices.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100% Financial Realization: Overstay fees (e.g., ₹150 for court, ₹120 for meeting room) billed to room.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Chain-of-Custody Accountability: 4-digit PIN handoffs pinpoint damage liability with zero disputes.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Landlord Asset Protection: Repair bills recouped from offending room rather than facility OpEx.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COMMERCIAL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Financial Unit Economics &amp; Hard Operator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Hard Financial ROI Breakdown (Per Facility / Year)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1. CapEx Deferral: INR 42,000 Saved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• Avoided purchasing a 2nd commercial washing machine + plumbing install.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• Recovered +28% capacity from previously wasted deadweight idle time.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2. Annual OpEx Reduction: INR 54,000 Saved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• Pre-implementation: ₹4,500/month in appliance and turf repairs.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• 65% drop in damage via PIN custody handoffs + 100% fine recovery.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3. Tenant LTV Preservation: INR 1,08,000 Preserved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• Shared amenity friction is the #1 cited reason for tenant departures in PGs.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 • Eliminating chore disputes increases average tenant tenure by +1.5 months.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TOTAL NET FINANCIAL BENEFIT: INR 2,04,000 / facility / year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Implementation Cost: INR 0 (Zero-CapEx software rollout).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Payback Period: 0 Days (Immediate positive net cash flow).</a:t>
            </a:r>
          </a:p>
        </p:txBody>
      </p:sp>
      <p:pic>
        <p:nvPicPr>
          <p:cNvPr id="6" name="Picture 5" descr="char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29960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4846320"/>
            <a:ext cx="5486400" cy="1463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9377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EXECUTIVE COMMERCIAL SUMMARY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For a multi-property co-living or residential operator managing 10 facilities, SmartShare unlocks over INR 20.4 Lakhs in annual financial upside, converting high-friction cost centers into self-governing, brand-enhancing assets.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SCALABILITY &amp; 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2 Horizon: Scaling to Enterprise &amp; Automated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Phase 1: Zero-CapEx MVP (Delivered &amp; Validated)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STATUS: FULLY DEPLOYED IN LIVE PILOT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100% Software deployed on Streamlit &amp; MySQL/SQLite.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Zero hardware dependencies; mobile web browser access.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Passwordless profile switcher for 0-friction pilot adoption.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Digital Custody Pass for instant social proof against squatters.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4-Digit physical PIN verification for hampers and assets.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Direct Rent Ledger: Overstay demerits auto-appended to rent bills.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Mathematical Buffer Geometry (10–15m) absorbing variance.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Focus: Fast validation of human compliance, fairness rules, and buffer geometry in live residential testbeds.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087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Phase 2: Commercial Scale &amp; Enterprise Security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STATUS: EXPANSION HORIZON &amp; B2B SCALING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Enterprise Authentication &amp; RBAC: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Resident Phone OTP / Single Sign-On with strict room-level privacy controls so tenants only view their own ledger.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Non-Invasive Current Sensing (IoT):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Smart plugs monitoring wattage (&lt;2W drop) to auto-detect cycle completion and trigger automated WhatsApp push alerts.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Smart Relay Floodlight Cutoffs: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Hard electrical shutoff of turf floodlights 5 minutes post-slot to physically prevent sports overstays.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Automated Magnetic Door Latches: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RFID / QR code scan to unlock study pods and conference rooms.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Multi-Tenant B2B White-Labeling: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  Licensing the engine to co-living chains, commercial sports turfs, and EV charging stations.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Demonstrating Business Management Mindset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59669"/>
                </a:solidFill>
              </a:defRPr>
            </a:pPr>
            <a:r>
              <a:t>1. Pragmatic Problem Solving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Genesis-to-Product Execution: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Took an ambiguous, everyday human friction observed in shared living and structured it into a rigorous business case.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Zero-CapEx Resourcefulness: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Refused to hide behind expensive IoT hardware.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Proved that behavioral incentive design and rent-bill accountability solve root causes for $0.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2. Operational Rigor &amp; Design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Mechanism Design Mastery: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Engineered mathematical buffer geometry, progressive anti-cartel pricing, and game-theoretic penalties.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Scalable Architecture: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Built a universal 3x3 resource catalog running on a single scalable relational schema with zero technical debt.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t>3. Commercial Acumen &amp; ROI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Dual Stakeholder Value: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Balanced tenant UX and dignity with building owner profitability (₹2,04,000 net annual value).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Senior Associate Readiness: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• Demonstrated the exact trifecta required for Senior Associate – Business Management: strategy, analytical rigor, and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4D399"/>
                </a:solidFill>
              </a:defRPr>
            </a:pPr>
            <a:r>
              <a:t>WHY SMARTSHARE PROVES ROLE FIT FOR SENIOR ASSOCIATE – BUSINESS MANAGEMENT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SmartShare demonstrates the ability to identify unarticulated operational friction, architect zero-cost scalable mechanisms, deliver a working MVP, and ground decisions in hard unit economics—turning messy real-world challenges into high-margin business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